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34D399"/>
                </a:solidFill>
                <a:latin typeface="Calibri"/>
              </a:rPr>
              <a:t>LUCRARE DE LICENȚĂ · UNSTPB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LawrAnalyzer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B9D4CB"/>
                </a:solidFill>
                <a:latin typeface="Calibri"/>
              </a:rPr>
              <a:t>Predicția riscului de accidentare în sport prin Federated Learning și recomandări AI, fără centralizarea datelor.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937760"/>
            <a:ext cx="12191695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8FB3A8"/>
                </a:solidFill>
                <a:latin typeface="Calibri"/>
              </a:rPr>
              <a:t>Universitatea Națională de Știință și Tehnologie POLITEHNICA București · Facultatea de Automatică și Calculatoare
Autor: Andrei-Laurențiu Radu
Coordonatori: Ș.l. Dr. Ing. Radu Corneliu Marin</a:t>
            </a:r>
            <a:r>
              <a:rPr lang="en-US" sz="1300">
                <a:solidFill>
                  <a:srgbClr val="8FB3A8"/>
                </a:solidFill>
              </a:rPr>
              <a:t> · Prof. Dr. Ing. Radu Ioan Ciobanu </a:t>
            </a:r>
            <a:endParaRPr sz="1300" b="0">
              <a:solidFill>
                <a:srgbClr val="8FB3A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01 —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Cluburile mici sunt lăsate pe dinafară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566160" cy="182880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🏆 Elită</a:t>
            </a:r>
          </a:p>
          <a:p>
            <a:pPr algn="ctr"/>
            <a:r>
              <a:rPr sz="1200" b="0">
                <a:solidFill>
                  <a:srgbClr val="B9D4CB"/>
                </a:solidFill>
                <a:latin typeface="Calibri"/>
              </a:rPr>
              <a:t>Analiști, fizioterapeuți, nutriționiști dedicați — dar cu costuri uriașe.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920240"/>
            <a:ext cx="3566160" cy="182880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📋 Cluburi mici</a:t>
            </a:r>
          </a:p>
          <a:p>
            <a:pPr algn="ctr"/>
            <a:r>
              <a:rPr sz="1200" b="0">
                <a:solidFill>
                  <a:srgbClr val="B9D4CB"/>
                </a:solidFill>
                <a:latin typeface="Calibri"/>
              </a:rPr>
              <a:t>Monitorizare pe hârtie/Excel, fără predicție și fără protecția datelor.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20240"/>
            <a:ext cx="3566160" cy="182880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⚠️ 3 bariere</a:t>
            </a:r>
          </a:p>
          <a:p>
            <a:pPr algn="ctr"/>
            <a:r>
              <a:rPr sz="1200" b="0">
                <a:solidFill>
                  <a:srgbClr val="B9D4CB"/>
                </a:solidFill>
                <a:latin typeface="Calibri"/>
              </a:rPr>
              <a:t>Lipsă de instrumente accesibile · lipsă de expertiză · constrângeri GDPR.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5394960" cy="128016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Cluburi de elită</a:t>
            </a:r>
          </a:p>
          <a:p>
            <a:pPr algn="ctr"/>
            <a:r>
              <a:rPr sz="1050" b="0">
                <a:solidFill>
                  <a:srgbClr val="B9D4CB"/>
                </a:solidFill>
                <a:latin typeface="Calibri"/>
              </a:rPr>
              <a:t>echipe de specialiști · hardware scump · SaaS centralizat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114800"/>
            <a:ext cx="5394960" cy="1280160"/>
          </a:xfrm>
          <a:prstGeom prst="roundRect">
            <a:avLst/>
          </a:prstGeom>
          <a:solidFill>
            <a:srgbClr val="106B53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Cluburi mici / amatoare</a:t>
            </a:r>
          </a:p>
          <a:p>
            <a:pPr algn="ctr"/>
            <a:r>
              <a:rPr sz="1050" b="0">
                <a:solidFill>
                  <a:srgbClr val="B9D4CB"/>
                </a:solidFill>
                <a:latin typeface="Calibri"/>
              </a:rPr>
              <a:t>fără instrumente · fără predicție · fără protecția datelor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5778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B9D4CB"/>
                </a:solidFill>
                <a:latin typeface="Calibri"/>
              </a:rPr>
              <a:t>Nevoia: predicție accesibilă, cu datele păstrate la club.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02 — Obiective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Cinci obiective, o singură platformă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77440"/>
            <a:ext cx="2057400" cy="164592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Structurarea
datelor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377440"/>
            <a:ext cx="2057400" cy="1645920"/>
          </a:xfrm>
          <a:prstGeom prst="roundRect">
            <a:avLst/>
          </a:prstGeom>
          <a:solidFill>
            <a:srgbClr val="106B53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Predicția
riscului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377440"/>
            <a:ext cx="2057400" cy="164592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Recomandări
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377440"/>
            <a:ext cx="2057400" cy="1645920"/>
          </a:xfrm>
          <a:prstGeom prst="roundRect">
            <a:avLst/>
          </a:prstGeom>
          <a:solidFill>
            <a:srgbClr val="106B53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Confidențialitate
(FL)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2377440"/>
            <a:ext cx="2057400" cy="164592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Acces pe
roluri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48056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B9D4CB"/>
                </a:solidFill>
                <a:latin typeface="Calibri"/>
              </a:rPr>
              <a:t>Admin · Antrenor · Jucător — fiecare cu permisiunile lui.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03 — Validarea nevoii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Sondaj: 28 respondenți, 9 sporturi</a:t>
            </a:r>
          </a:p>
        </p:txBody>
      </p:sp>
      <p:pic>
        <p:nvPicPr>
          <p:cNvPr id="4" name="Picture 3" descr="grafic_1_sond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766560" cy="3114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2011680"/>
            <a:ext cx="4023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34D399"/>
                </a:solidFill>
                <a:latin typeface="Calibri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267004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9D4CB"/>
                </a:solidFill>
                <a:latin typeface="Calibri"/>
              </a:rPr>
              <a:t>antrenori fără instrument automat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3383280"/>
            <a:ext cx="4023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34D399"/>
                </a:solidFill>
                <a:latin typeface="Calibri"/>
              </a:rPr>
              <a:t>7/10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04164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9D4CB"/>
                </a:solidFill>
                <a:latin typeface="Calibri"/>
              </a:rPr>
              <a:t>interesați de predicția riscului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54880"/>
            <a:ext cx="4023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34D399"/>
                </a:solidFill>
                <a:latin typeface="Calibri"/>
              </a:rPr>
              <a:t>8/10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541324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9D4CB"/>
                </a:solidFill>
                <a:latin typeface="Calibri"/>
              </a:rPr>
              <a:t>acceptă partajarea doar dacă datele rămân la club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04 — Soluții existente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Niciuna nu le combină pe toate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Criteriu</a:t>
                      </a:r>
                    </a:p>
                  </a:txBody>
                  <a:tcPr>
                    <a:solidFill>
                      <a:srgbClr val="10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Catapult</a:t>
                      </a:r>
                    </a:p>
                  </a:txBody>
                  <a:tcPr>
                    <a:solidFill>
                      <a:srgbClr val="10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STATSports</a:t>
                      </a:r>
                    </a:p>
                  </a:txBody>
                  <a:tcPr>
                    <a:solidFill>
                      <a:srgbClr val="10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Kitman</a:t>
                      </a:r>
                    </a:p>
                  </a:txBody>
                  <a:tcPr>
                    <a:solidFill>
                      <a:srgbClr val="10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Hudl</a:t>
                      </a:r>
                    </a:p>
                  </a:txBody>
                  <a:tcPr>
                    <a:solidFill>
                      <a:srgbClr val="10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LawrAnalyzer</a:t>
                      </a:r>
                    </a:p>
                  </a:txBody>
                  <a:tcPr>
                    <a:solidFill>
                      <a:srgbClr val="106B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Predicție AI a riscului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BBF24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BBF24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87171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25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Învățare între cluburi (FL)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87171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87171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87171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87171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25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Datele rămân la club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87171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87171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87171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87171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25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Fără hardware dedicat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87171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87171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25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Preț accesibil / open-source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87171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87171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87171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87171"/>
                          </a:solidFill>
                          <a:latin typeface="Calibri"/>
                        </a:rPr>
                        <a:t>✕</a:t>
                      </a:r>
                    </a:p>
                  </a:txBody>
                  <a:tcPr>
                    <a:solidFill>
                      <a:srgbClr val="0E5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125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05 — Arhitectura tehnică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9 servicii containerizate (Docker Swarm)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737360"/>
            <a:ext cx="3749039" cy="64008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Frontend React (Vite)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2377440"/>
            <a:ext cx="0" cy="365760"/>
          </a:xfrm>
          <a:prstGeom prst="line">
            <a:avLst/>
          </a:prstGeom>
          <a:ln w="19050">
            <a:solidFill>
              <a:srgbClr val="8FB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06240" y="2743200"/>
            <a:ext cx="3749039" cy="640080"/>
          </a:xfrm>
          <a:prstGeom prst="roundRect">
            <a:avLst/>
          </a:prstGeom>
          <a:solidFill>
            <a:srgbClr val="106B53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Nginx API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2103120" cy="68580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auth-service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508760" y="3383280"/>
            <a:ext cx="4572000" cy="548640"/>
          </a:xfrm>
          <a:prstGeom prst="line">
            <a:avLst/>
          </a:prstGeom>
          <a:ln w="12700">
            <a:solidFill>
              <a:srgbClr val="8FB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3931920"/>
            <a:ext cx="2103120" cy="68580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player-service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794760" y="3383280"/>
            <a:ext cx="2286000" cy="548640"/>
          </a:xfrm>
          <a:prstGeom prst="line">
            <a:avLst/>
          </a:prstGeom>
          <a:ln w="12700">
            <a:solidFill>
              <a:srgbClr val="8FB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0" y="3931920"/>
            <a:ext cx="2103120" cy="685800"/>
          </a:xfrm>
          <a:prstGeom prst="roundRect">
            <a:avLst/>
          </a:prstGeom>
          <a:solidFill>
            <a:srgbClr val="106B53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fl-service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3383280"/>
            <a:ext cx="0" cy="548640"/>
          </a:xfrm>
          <a:prstGeom prst="line">
            <a:avLst/>
          </a:prstGeom>
          <a:ln w="12700">
            <a:solidFill>
              <a:srgbClr val="8FB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0" y="3931920"/>
            <a:ext cx="2103120" cy="68580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ai-recommendation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3383280"/>
            <a:ext cx="2286000" cy="548640"/>
          </a:xfrm>
          <a:prstGeom prst="line">
            <a:avLst/>
          </a:prstGeom>
          <a:ln w="12700">
            <a:solidFill>
              <a:srgbClr val="8FB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0" y="3931920"/>
            <a:ext cx="2103120" cy="68580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feedback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3383280"/>
            <a:ext cx="4572000" cy="548640"/>
          </a:xfrm>
          <a:prstGeom prst="line">
            <a:avLst/>
          </a:prstGeom>
          <a:ln w="12700">
            <a:solidFill>
              <a:srgbClr val="8FB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377440" y="5120640"/>
            <a:ext cx="3108960" cy="64008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Keycloak (JWT / RBAC)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5120640"/>
            <a:ext cx="2377440" cy="64008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5120640"/>
            <a:ext cx="2377440" cy="64008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LLM Groq (extern)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8FB3A8"/>
                </a:solidFill>
                <a:latin typeface="Calibri"/>
              </a:rPr>
              <a:t>React → Nginx → 5 microservicii Flask · Keycloak · PostgreSQL · LLM Groq.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06 — Confidențialitate prin Federated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Datele brute nu părăsesc clubul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737360"/>
            <a:ext cx="4114800" cy="914400"/>
          </a:xfrm>
          <a:prstGeom prst="roundRect">
            <a:avLst/>
          </a:prstGeom>
          <a:solidFill>
            <a:srgbClr val="106B53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Server FedAvg</a:t>
            </a:r>
          </a:p>
          <a:p>
            <a:pPr algn="ctr"/>
            <a:r>
              <a:rPr sz="1050" b="0">
                <a:solidFill>
                  <a:srgbClr val="B9D4CB"/>
                </a:solidFill>
                <a:latin typeface="Calibri"/>
              </a:rPr>
              <a:t>agregă ponderile → model global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572000"/>
            <a:ext cx="2377440" cy="100584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Club A</a:t>
            </a:r>
          </a:p>
          <a:p>
            <a:pPr algn="ctr"/>
            <a:r>
              <a:rPr sz="1050" b="0">
                <a:solidFill>
                  <a:srgbClr val="B9D4CB"/>
                </a:solidFill>
                <a:latin typeface="Calibri"/>
              </a:rPr>
              <a:t>date locale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286000" y="2651760"/>
            <a:ext cx="3200400" cy="1920240"/>
          </a:xfrm>
          <a:prstGeom prst="line">
            <a:avLst/>
          </a:prstGeom>
          <a:ln w="15875">
            <a:solidFill>
              <a:srgbClr val="8FB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480560" y="4572000"/>
            <a:ext cx="2377440" cy="100584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Club B</a:t>
            </a:r>
          </a:p>
          <a:p>
            <a:pPr algn="ctr"/>
            <a:r>
              <a:rPr sz="1050" b="0">
                <a:solidFill>
                  <a:srgbClr val="B9D4CB"/>
                </a:solidFill>
                <a:latin typeface="Calibri"/>
              </a:rPr>
              <a:t>date locale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5486400" y="2651760"/>
            <a:ext cx="182880" cy="1920240"/>
          </a:xfrm>
          <a:prstGeom prst="line">
            <a:avLst/>
          </a:prstGeom>
          <a:ln w="15875">
            <a:solidFill>
              <a:srgbClr val="8FB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863840" y="4572000"/>
            <a:ext cx="2377440" cy="100584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Club C</a:t>
            </a:r>
          </a:p>
          <a:p>
            <a:pPr algn="ctr"/>
            <a:r>
              <a:rPr sz="1050" b="0">
                <a:solidFill>
                  <a:srgbClr val="B9D4CB"/>
                </a:solidFill>
                <a:latin typeface="Calibri"/>
              </a:rPr>
              <a:t>date locale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5486400" y="2651760"/>
            <a:ext cx="3566160" cy="1920240"/>
          </a:xfrm>
          <a:prstGeom prst="line">
            <a:avLst/>
          </a:prstGeom>
          <a:ln w="15875">
            <a:solidFill>
              <a:srgbClr val="8FB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286000" y="2651760"/>
            <a:ext cx="3200400" cy="1920240"/>
          </a:xfrm>
          <a:prstGeom prst="line">
            <a:avLst/>
          </a:prstGeom>
          <a:ln w="22225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98079" y="292608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9D4CB"/>
                </a:solidFill>
                <a:latin typeface="Calibri"/>
              </a:rPr>
              <a:t>↑ doar 13 ponderi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38328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  <a:latin typeface="Calibri"/>
              </a:rPr>
              <a:t>↓ model global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4023360"/>
            <a:ext cx="3108960" cy="640080"/>
          </a:xfrm>
          <a:prstGeom prst="roundRect">
            <a:avLst/>
          </a:prstGeom>
          <a:solidFill>
            <a:srgbClr val="125A47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🔒 confidențialitate prin arhitectură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07 — Modelul predictiv + FedAvg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Regresie logistică · 12 caracteristici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103120" cy="566928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Poziție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920240"/>
            <a:ext cx="2103120" cy="566928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Nr. accidentări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920240"/>
            <a:ext cx="2103120" cy="566928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Forță genunchi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1920240"/>
            <a:ext cx="2103120" cy="566928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Flexib. ischio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2103120" cy="566928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Timp reacție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606040"/>
            <a:ext cx="2103120" cy="566928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Echilibru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606040"/>
            <a:ext cx="2103120" cy="566928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Viteză sprint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2606040"/>
            <a:ext cx="2103120" cy="566928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Agilitate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40"/>
            <a:ext cx="2103120" cy="566928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Ore somn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3291840"/>
            <a:ext cx="2103120" cy="566928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Nivel stres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291840"/>
            <a:ext cx="2103120" cy="566928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Calitate nutriție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3291840"/>
            <a:ext cx="2103120" cy="566928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Aderență încălzire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  <a:latin typeface="Calibri"/>
              </a:rPr>
              <a:t>FedAvg:   θ_global = Σ ( n_k / n_total ) · θ_k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9D4CB"/>
                </a:solidFill>
                <a:latin typeface="Calibri"/>
              </a:rPr>
              <a:t>Agregare ponderată după volumul de date al fiecărui club.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86400"/>
            <a:ext cx="3291840" cy="502920"/>
          </a:xfrm>
          <a:prstGeom prst="roundRect">
            <a:avLst/>
          </a:prstGeom>
          <a:solidFill>
            <a:srgbClr val="166E53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Scăzut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5486400"/>
            <a:ext cx="2103120" cy="502920"/>
          </a:xfrm>
          <a:prstGeom prst="roundRect">
            <a:avLst/>
          </a:prstGeom>
          <a:solidFill>
            <a:srgbClr val="8A6D16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Mediu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5486400"/>
            <a:ext cx="2103120" cy="502920"/>
          </a:xfrm>
          <a:prstGeom prst="roundRect">
            <a:avLst/>
          </a:prstGeom>
          <a:solidFill>
            <a:srgbClr val="8A3A3A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Ridicat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53212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9D4CB"/>
                </a:solidFill>
                <a:latin typeface="Calibri"/>
              </a:rPr>
              <a:t>0.40   ·   0.65   praguri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08 — Recomandări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LLM-ul nu calculează riscul — îl traduce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77440"/>
            <a:ext cx="2651760" cy="1188720"/>
          </a:xfrm>
          <a:prstGeom prst="roundRect">
            <a:avLst/>
          </a:prstGeom>
          <a:solidFill>
            <a:srgbClr val="106B53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Risc (model FL)</a:t>
            </a:r>
          </a:p>
          <a:p>
            <a:pPr algn="ctr"/>
            <a:r>
              <a:rPr sz="1050" b="0">
                <a:solidFill>
                  <a:srgbClr val="B9D4CB"/>
                </a:solidFill>
                <a:latin typeface="Calibri"/>
              </a:rPr>
              <a:t>deja calculat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27248" y="2788920"/>
            <a:ext cx="237744" cy="365760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83280" y="2377440"/>
            <a:ext cx="2651760" cy="118872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Context jucător</a:t>
            </a:r>
          </a:p>
          <a:p>
            <a:pPr algn="ctr"/>
            <a:r>
              <a:rPr sz="1050" b="0">
                <a:solidFill>
                  <a:srgbClr val="B9D4CB"/>
                </a:solidFill>
                <a:latin typeface="Calibri"/>
              </a:rPr>
              <a:t>metrici recente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053328" y="2788920"/>
            <a:ext cx="237744" cy="365760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09360" y="2377440"/>
            <a:ext cx="2651760" cy="118872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LLM (Groq)</a:t>
            </a:r>
          </a:p>
          <a:p>
            <a:pPr algn="ctr"/>
            <a:r>
              <a:rPr sz="1050" b="0">
                <a:solidFill>
                  <a:srgbClr val="B9D4CB"/>
                </a:solidFill>
                <a:latin typeface="Calibri"/>
              </a:rPr>
              <a:t>limbaj natural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979408" y="2788920"/>
            <a:ext cx="237744" cy="365760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235440" y="2377440"/>
            <a:ext cx="2651760" cy="1188720"/>
          </a:xfrm>
          <a:prstGeom prst="roundRect">
            <a:avLst/>
          </a:prstGeom>
          <a:solidFill>
            <a:srgbClr val="0E5040"/>
          </a:solidFill>
          <a:ln w="9525">
            <a:solidFill>
              <a:srgbClr val="2E6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Recomandări</a:t>
            </a:r>
          </a:p>
          <a:p>
            <a:pPr algn="ctr"/>
            <a:r>
              <a:rPr sz="1050" b="0">
                <a:solidFill>
                  <a:srgbClr val="B9D4CB"/>
                </a:solidFill>
                <a:latin typeface="Calibri"/>
              </a:rPr>
              <a:t>accept · refuz · finalizat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B9D4CB"/>
                </a:solidFill>
                <a:latin typeface="Calibri"/>
              </a:rPr>
              <a:t>•  Riscul rămâne autoritatea modelului FL — coerent cu clasamentul.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9D4CB"/>
                </a:solidFill>
                <a:latin typeface="Calibri"/>
              </a:rPr>
              <a:t>•  Fallback determinist dacă serviciul LLM pică (fără cădere a aplicației).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9D4CB"/>
                </a:solidFill>
                <a:latin typeface="Calibri"/>
              </a:rPr>
              <a:t>•  Istoric separat (finalizate / refuzate), colapsabil, cu opțiunea de restaurare.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09 — Aplicația (demo)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Trei ecrane cheie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3566160" cy="2743200"/>
          </a:xfrm>
          <a:prstGeom prst="roundRect">
            <a:avLst/>
          </a:prstGeom>
          <a:solidFill>
            <a:srgbClr val="0A4739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Clasament de risc
(cod de culoare)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2011680"/>
            <a:ext cx="3566160" cy="2743200"/>
          </a:xfrm>
          <a:prstGeom prst="roundRect">
            <a:avLst/>
          </a:prstGeom>
          <a:solidFill>
            <a:srgbClr val="0A4739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Profil jucător
(metrici · grafice)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011680"/>
            <a:ext cx="3566160" cy="2743200"/>
          </a:xfrm>
          <a:prstGeom prst="roundRect">
            <a:avLst/>
          </a:prstGeom>
          <a:solidFill>
            <a:srgbClr val="0A4739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Recomandări
(risc + AI)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B9D4CB"/>
                </a:solidFill>
                <a:latin typeface="Calibri"/>
              </a:rPr>
              <a:t>💡 Inserează aici screenshot-uri reale · demo live de 1–2 minute.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10 — Rezultate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FedAvg ≈ centralizat, dar privat</a:t>
            </a:r>
          </a:p>
        </p:txBody>
      </p:sp>
      <p:pic>
        <p:nvPicPr>
          <p:cNvPr id="4" name="Picture 3" descr="grafic_2_acurat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4487062" cy="3291840"/>
          </a:xfrm>
          <a:prstGeom prst="rect">
            <a:avLst/>
          </a:prstGeom>
        </p:spPr>
      </p:pic>
      <p:pic>
        <p:nvPicPr>
          <p:cNvPr id="5" name="Picture 4" descr="grafic_3_convergenta_f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783080"/>
            <a:ext cx="5577702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9496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34D399"/>
                </a:solidFill>
                <a:latin typeface="Calibri"/>
              </a:rPr>
              <a:t>73,3%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9D4CB"/>
                </a:solidFill>
                <a:latin typeface="Calibri"/>
              </a:rPr>
              <a:t>acuratețe (CV)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39496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34D399"/>
                </a:solidFill>
                <a:latin typeface="Calibri"/>
              </a:rPr>
              <a:t>+15,9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6053328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9D4CB"/>
                </a:solidFill>
                <a:latin typeface="Calibri"/>
              </a:rPr>
              <a:t>peste baseline 57,4%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39496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34D399"/>
                </a:solidFill>
                <a:latin typeface="Calibri"/>
              </a:rPr>
              <a:t>0,65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6053328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9D4CB"/>
                </a:solidFill>
                <a:latin typeface="Calibri"/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539496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34D399"/>
                </a:solidFill>
                <a:latin typeface="Calibri"/>
              </a:rPr>
              <a:t>0,573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6053328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9D4CB"/>
                </a:solidFill>
                <a:latin typeface="Calibri"/>
              </a:rPr>
              <a:t>log loss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11 — Cost &amp; confidențialitate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93–98% mai ieftin, singura federată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Catapult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011680"/>
            <a:ext cx="10241280" cy="548640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121640" y="201168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9D4CB"/>
                </a:solidFill>
                <a:latin typeface="Calibri"/>
              </a:rPr>
              <a:t>€11k–26k /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STATSports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926080"/>
            <a:ext cx="6858000" cy="5486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38360" y="292608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9D4CB"/>
                </a:solidFill>
                <a:latin typeface="Calibri"/>
              </a:rPr>
              <a:t>~€8k–18k / 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Kitman Labs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840480"/>
            <a:ext cx="5486400" cy="54864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384048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9D4CB"/>
                </a:solidFill>
                <a:latin typeface="Calibri"/>
              </a:rPr>
              <a:t>enterprise (SaaS)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LawrAnalyzer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4754880"/>
            <a:ext cx="457200" cy="54864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7560" y="475488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9D4CB"/>
                </a:solidFill>
                <a:latin typeface="Calibri"/>
              </a:rPr>
              <a:t>€240–720 / 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4D399"/>
                </a:solidFill>
                <a:latin typeface="Calibri"/>
              </a:rPr>
              <a:t>•  Singura cu arhitectură federată · software-only, self-hostable · open-source.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12 — Concluzii &amp; dezvoltări viitoare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Confidențial, predictiv, scalabil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Calibri"/>
              </a:rPr>
              <a:t>Contribuție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B9D4CB"/>
                </a:solidFill>
                <a:latin typeface="Calibri"/>
              </a:rPr>
              <a:t>•  FL aplicat pe date mici, din cluburi non-elită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9D4CB"/>
                </a:solidFill>
                <a:latin typeface="Calibri"/>
              </a:rPr>
              <a:t>•  Model interpretabil (regresie logistică)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9D4CB"/>
                </a:solidFill>
                <a:latin typeface="Calibri"/>
              </a:rPr>
              <a:t>•  Platformă completă, containerizată, testată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Calibri"/>
              </a:rPr>
              <a:t>Mai departe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2860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B9D4CB"/>
                </a:solidFill>
                <a:latin typeface="Calibri"/>
              </a:rPr>
              <a:t>•  Codificare multi-sport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9D4CB"/>
                </a:solidFill>
                <a:latin typeface="Calibri"/>
              </a:rPr>
              <a:t>•  Confidențialitate diferențială peste FedAvg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9D4CB"/>
                </a:solidFill>
                <a:latin typeface="Calibri"/>
              </a:rPr>
              <a:t>•  Integrare wearables · raport medical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B9D4CB"/>
                </a:solidFill>
                <a:latin typeface="Calibri"/>
              </a:rPr>
              <a:t>Onestitate la limite: scorul e un semnal de risc, nu un diagnostic; FL este validat în simulare, nu încă cu cluburi reale.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Mulțumesc!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4D399"/>
                </a:solidFill>
                <a:latin typeface="Calibri"/>
              </a:rPr>
              <a:t>Întrebări?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720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8FB3A8"/>
                </a:solidFill>
                <a:latin typeface="Calibri"/>
              </a:rPr>
              <a:t>LawrAnalyzer · Andrei-Laurențiu Radu · UNSTPB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738</Words>
  <Application>Microsoft Office PowerPoint</Application>
  <PresentationFormat>Widescreen</PresentationFormat>
  <Paragraphs>171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Andrei-Laurenţiu RADU (131331)</cp:lastModifiedBy>
  <cp:revision>2</cp:revision>
  <dcterms:created xsi:type="dcterms:W3CDTF">2013-01-27T09:14:16Z</dcterms:created>
  <dcterms:modified xsi:type="dcterms:W3CDTF">2026-06-23T19:39:57Z</dcterms:modified>
  <cp:category/>
</cp:coreProperties>
</file>